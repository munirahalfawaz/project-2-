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5" r:id="rId2"/>
    <p:sldId id="270" r:id="rId3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8"/>
  </p:normalViewPr>
  <p:slideViewPr>
    <p:cSldViewPr snapToGrid="0">
      <p:cViewPr varScale="1">
        <p:scale>
          <a:sx n="100" d="100"/>
          <a:sy n="100" d="100"/>
        </p:scale>
        <p:origin x="9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4A699-750F-9241-B7FE-8EC7429A6BE2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9D58B-55A4-5B4A-B3C3-06F9238A0D4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906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DDE8-4FAB-1368-7694-8800F62B8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44158-208D-5BA5-A0EB-A9086E41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1EFB-E1C9-4E5B-F467-F2666C90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C603-534C-6110-2C17-A93631B3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7CA67-DA2E-6A6A-722F-E790ABED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30372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903F-1DEF-AD0E-C8D4-2E4D62A0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39F6-F13B-5036-FA66-6952EE2C8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74474-706B-FAF6-8F66-1AD75F52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A6F29-85DE-4362-55F1-CC431674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3048-B377-FD67-70FA-E3BE7E59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7974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4E9A-106A-F5B8-D43E-E62FF8F26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7C5E5-D547-78B3-2425-F5BE7EF5B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C9B95-50A7-3163-BF5E-EF9790E9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B9CFB-9526-1899-B483-87FF0C4F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ACE75-97D9-BB86-1A8D-B57BF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391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1EC8-B8B3-CFD8-61E4-03A59355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4BFD-4B42-1E79-F90F-A223D2F36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72A1A-555E-1068-4466-3344A3C1B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7CFF7-1E85-1A85-0E2C-1AE29F6A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DF9F6-CAC2-1B23-50F1-6928AE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2C16E-1653-470D-B8EE-6D594B66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3112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6803-2810-EE5B-941A-16BED0F8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79B8-551C-CAFB-E2B2-3C949C2E7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6469-9E77-E9C6-622B-E0CD2E1C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D40A0-5C06-CD95-F857-BE964A8A3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7FC00-AA8D-977F-60A0-9B95F492C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481D3-BECD-D18D-5968-701EDDF3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B560D-5D1A-8205-C008-ABC9980D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9CC95-88D1-C3CB-774D-0A51661E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000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86B1-6E42-238F-6BDE-695A0CB7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57FC0-C51A-B7CF-7BB8-86433344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4624A-5A50-5F54-73C6-BDCA6C61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79868-AF73-DC89-6E2B-CF3923F9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4080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6D810-D4A2-AA89-8F68-F1CF407E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0A538-B208-82A8-8F17-9C956F31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DF829-A907-8BC1-D7F1-D60B5815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4369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BD77-E259-A187-1AC5-7BA09E4C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45E2-63E6-D499-2BC3-CE62C06D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57288-B6B8-A9DB-93B5-229705AF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4E16D-0CD8-8E02-4D82-DE7E2F09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A84AC-9698-D9AA-1AA2-67433047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1FE9-8359-FE45-2558-AC36347A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4682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D28B-5956-31B9-0706-E343E400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C144D-04DA-0A43-52E3-067458D5D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624A9-D1B0-A6C9-C2F1-21DF4C127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25C09-9107-EDDB-DA8D-CCD0D0F6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75123-4391-AA83-D957-C387AAB9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7DE46-A604-C128-A6B4-93D24A0F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51625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B9D6-3F9F-6774-0973-3698D8A3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1B0FC-D0E6-35EE-D910-A5145C0FC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474CB-B77F-CF04-4C51-24F0E6EB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B9B3C-3349-9BB8-9DBD-FBDC65F3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4C69-BABA-0B20-9877-535C8F81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64954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42409-AE53-0646-CF6E-26A01C264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A586-DE17-69B1-0292-34CB4A449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216FC-8112-51C9-55E3-E7134044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ADC6-7E5C-2E8E-E565-1ECC57EF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31072-36D4-23DC-ECDE-CEBD14EF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169052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51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B78112-5A56-BE82-048F-6BAB45D3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D7393-4810-B0EB-62FF-2B2AF4E5C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6E14-2E8B-2856-A01F-B1317923C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479B3-6B8C-EA49-84AA-ADE9838BC2DB}" type="datetimeFigureOut">
              <a:rPr lang="en-SA" smtClean="0"/>
              <a:t>18/05/2026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68659-D112-B14E-E423-40E315F64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9B2E-3B95-211C-D4F1-A05FC8003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4E77F-5344-3A41-982E-111B982B40D2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4603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drv.ms/v/c/cb80d8e4db38a3a2/IQC0rNQNW30tQ57xzDjXt4BZARPMKOW9p4AAIJN4L4HT_WQ?e=MTsNTH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616967"/>
            <a:ext cx="3712497" cy="67577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2133" b="1" kern="0" spc="196" dirty="0">
                <a:solidFill>
                  <a:srgbClr val="8A3A1A"/>
                </a:solidFill>
                <a:latin typeface="Sakkal Majalla" panose="02000000000000000000" pitchFamily="2" charset="-78"/>
                <a:ea typeface="JetBrains Mono" pitchFamily="34" charset="-122"/>
                <a:cs typeface="Sakkal Majalla" panose="02000000000000000000" pitchFamily="2" charset="-78"/>
              </a:rPr>
              <a:t>Statistical Analysis</a:t>
            </a:r>
            <a:endParaRPr lang="en-US" sz="2133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324484"/>
            <a:ext cx="10668000" cy="6350"/>
          </a:xfrm>
          <a:prstGeom prst="rect">
            <a:avLst/>
          </a:prstGeom>
          <a:solidFill>
            <a:srgbClr val="CFC6B6"/>
          </a:solidFill>
          <a:ln/>
        </p:spPr>
        <p:txBody>
          <a:bodyPr/>
          <a:lstStyle/>
          <a:p>
            <a:pPr algn="r" defTabSz="609630" rtl="1"/>
            <a:endParaRPr lang="en-SA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24BF9F-83FC-23EB-0497-7B9DC947C11F}"/>
              </a:ext>
            </a:extLst>
          </p:cNvPr>
          <p:cNvSpPr txBox="1"/>
          <p:nvPr/>
        </p:nvSpPr>
        <p:spPr>
          <a:xfrm>
            <a:off x="853440" y="1767840"/>
            <a:ext cx="10363200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 algn="just">
              <a:buFont typeface="Wingdings" pitchFamily="2" charset="2"/>
              <a:buChar char="§"/>
            </a:pPr>
            <a:r>
              <a:rPr lang="en-US" sz="1867" dirty="0">
                <a:latin typeface="Sakkal Majalla" panose="02000000000000000000" pitchFamily="2" charset="-78"/>
                <a:cs typeface="Sakkal Majalla" panose="02000000000000000000" pitchFamily="2" charset="-78"/>
              </a:rPr>
              <a:t>Average monthly e-commerce spend is 615 SAR (median 400 SAR). The high skewness (1.36) indicates a small segment of heavy spenders pulling the mean upward , most Saudi shoppers spend 200 to 400 Sar monthly.</a:t>
            </a:r>
          </a:p>
          <a:p>
            <a:pPr marL="190510" indent="-190510" algn="just">
              <a:buFont typeface="Wingdings" pitchFamily="2" charset="2"/>
              <a:buChar char="§"/>
            </a:pPr>
            <a:r>
              <a:rPr lang="en-US" sz="1867" dirty="0">
                <a:latin typeface="Sakkal Majalla" panose="02000000000000000000" pitchFamily="2" charset="-78"/>
                <a:cs typeface="Sakkal Majalla" panose="02000000000000000000" pitchFamily="2" charset="-78"/>
              </a:rPr>
              <a:t>Spending is highly variable (std = 147 SAR). 50% of the sample spend 100 SAR or less, but top 25% spend more then 300 SAR , which create a wide spending gap.</a:t>
            </a:r>
          </a:p>
          <a:p>
            <a:pPr marL="190510" indent="-190510" algn="just">
              <a:buFont typeface="Wingdings" pitchFamily="2" charset="2"/>
              <a:buChar char="§"/>
            </a:pPr>
            <a:r>
              <a:rPr lang="en-US" sz="1867" dirty="0">
                <a:latin typeface="Sakkal Majalla" panose="02000000000000000000" pitchFamily="2" charset="-78"/>
                <a:cs typeface="Sakkal Majalla" panose="02000000000000000000" pitchFamily="2" charset="-78"/>
              </a:rPr>
              <a:t> The 18–24 group spends the most (663 SAR/month) despite being less established financially , driven by fashion, electronics, and trend-based purchases. Therefore, Businesses should priorities this segment for acquisition.</a:t>
            </a:r>
          </a:p>
          <a:p>
            <a:pPr marL="190510" indent="-190510" algn="just">
              <a:buFont typeface="Wingdings" pitchFamily="2" charset="2"/>
              <a:buChar char="§"/>
            </a:pPr>
            <a:r>
              <a:rPr lang="en-US" sz="1867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ANOVA Result: </a:t>
            </a:r>
            <a:r>
              <a:rPr lang="en-US" sz="1867" dirty="0">
                <a:latin typeface="Sakkal Majalla" panose="02000000000000000000" pitchFamily="2" charset="-78"/>
                <a:cs typeface="Sakkal Majalla" panose="02000000000000000000" pitchFamily="2" charset="-78"/>
              </a:rPr>
              <a:t>F-statistic = 4.423  ·  p-value = 0.0042  →  p &lt; 0.05 , thus statistically significant.  Education level significantly affects monthly e-commerce spending (p = 0.004). Postgraduate holders spend 727 SAR/month on average , 26% more than the overall mean. This is the strongest statistical finding in the dataset. </a:t>
            </a:r>
          </a:p>
          <a:p>
            <a:pPr marL="190510" indent="-190510" algn="just">
              <a:buFont typeface="Wingdings" pitchFamily="2" charset="2"/>
              <a:buChar char="§"/>
            </a:pPr>
            <a:endParaRPr lang="en-SA" sz="18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5A060-4F7E-67D6-5BFC-F6C768BF20F4}"/>
              </a:ext>
            </a:extLst>
          </p:cNvPr>
          <p:cNvSpPr txBox="1"/>
          <p:nvPr/>
        </p:nvSpPr>
        <p:spPr>
          <a:xfrm>
            <a:off x="1402080" y="1731264"/>
            <a:ext cx="926592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For a walkthrough of the interactive dashboard, watch a short video of the demo </a:t>
            </a:r>
            <a:r>
              <a:rPr lang="en-US" sz="1867" b="1" dirty="0">
                <a:latin typeface="Sakkal Majalla" panose="02000000000000000000" pitchFamily="2" charset="-78"/>
                <a:cs typeface="Sakkal Majalla" panose="02000000000000000000" pitchFamily="2" charset="-78"/>
                <a:hlinkClick r:id="rId2"/>
              </a:rPr>
              <a:t>here</a:t>
            </a:r>
            <a:r>
              <a:rPr lang="en-US" sz="1867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. Or scan the QR code below</a:t>
            </a:r>
            <a:endParaRPr lang="en-SA" sz="1867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1CA14517-DF56-9AA0-E87A-27DBA61562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73798" y="2080077"/>
            <a:ext cx="1236408" cy="10410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C8F7DD2-6B01-5A43-5E7B-C438BB588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542" y="4819601"/>
            <a:ext cx="677069" cy="685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034B5-5A3F-7DFE-026C-3606E4387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097" y="5555843"/>
            <a:ext cx="1670515" cy="15764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9FAD32-1169-B355-54F8-2E66821A0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208" y="2828179"/>
            <a:ext cx="2727664" cy="272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7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Macintosh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Sakkal Majalla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m.a.12 alm</dc:creator>
  <cp:lastModifiedBy>m.a.12 alm</cp:lastModifiedBy>
  <cp:revision>1</cp:revision>
  <dcterms:created xsi:type="dcterms:W3CDTF">2026-05-18T17:47:26Z</dcterms:created>
  <dcterms:modified xsi:type="dcterms:W3CDTF">2026-05-18T17:49:22Z</dcterms:modified>
</cp:coreProperties>
</file>